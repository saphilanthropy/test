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reference deck. It is not a client pitch, so it says things plainly that a client deck would soften.
Caveat to state up front: every performance figure in here comes from the published case studies on the website and still needs Sarah sign off before any of it goes into an external asset. Nothing here has been independently reverified against source reporting.
There is no logo on this cover because no logo master was available when this was built. Typographic cover by choice, not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second sentence. We are not claiming to be everything to everyone, and the specialism is what gives us the right to talk about the rest.
Four markets is a genuine differentiator for organisations running cross border programmes, because most agencies handle one market well and bolt the others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a generalist fundraising agency, so it sits early.
Say the third card out loud when it comes up. We describe process, we do not assert rulings. That distinction protects the firm and it is also why organisations trust the compliance work.
Standing rule: anything touching Zakat, Khums, Sadaqah, Qurbani or inheritance routes to ARJ before it leaves the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tension is real and it is better named internally than discovered by a prospect.
Sarah has published that an agency claiming all four equally is overclaiming. Our results genuinely span all four. Both things are true. The honest resolution is probably to lead with the specialism and present the disciplines as depth inside it rather than as a four column menu, but that is a positioning decision for Sarah and Amir, not an assumption to build on.
Flag: do not reuse this slide in a client facing deck without resolving the question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one meaning. Do not stack other statistics on this slide. Everything else lives on the next slide and in the appendix.
Why this number and not a bigger one: it is a structured moves management result rather than a campaign spike, which is the harder and more defensible thing to have done. It also carries the donor count, so the audience can see the average gift is real.
Caveat to say out loud: this is from the published case study and has not been reverified against source reporting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mandates chosen to show range of discipline and range of market, not the six biggest numbers. The full set of sixteen is in the appendix.
If someone asks why the currencies are mixed: they are reported as the client reported them, which is the honest way to do it. Do not convert them into a single blended figure, because that invents a number nobody can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team will actually come back to, so it earns its place in the main flow rather than the appendix.
The client versus donor distinction is the one that slips most often in drafts. Our clients are organisations. Donors are who those organisations are trying to reach. Blurring it reads as though we do not know whose side we are on.
The no dashes rule is absolute and it includes the ones software inserts for you, so check generated documents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Categories span strategy, Islamic philanthropy, major gifts, donor experience, paid media, operations and leadership.
The thing worth protecting here is the house headline pattern. Every article title is phrased as the question a prospect would type, not as a topic label. That is deliberate and it is why the content gets found.
Counts are as at October 2026 and will drift. Recount before reusing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lives here rather than in the main flow, which is the house rule.
Specific flag: the cost per lead figures behind the two lead generation rows, $2.73 and $3.43, are exactly the kind of number that has been questioned before. Do not quote either externally until Sarah has confirmed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credit uses the full legal entity name. This is the only place in the deck it appears. Everywhere else the firm is SA Philanthropy.
Before this deck is reused for anything external: resolve the four disciplines question on slide 4, get Sarah sign off on every figure, and add the logo and cover photography that were not available when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EFE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B3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77240" y="713232"/>
            <a:ext cx="10637215" cy="320040"/>
          </a:xfrm>
          <a:prstGeom prst="rect">
            <a:avLst/>
          </a:prstGeom>
          <a:noFill/>
          <a:ln/>
        </p:spPr>
        <p:txBody>
          <a:bodyPr wrap="square" lIns="0" tIns="0" rIns="0" bIns="0" rtlCol="0" anchor="ctr"/>
          <a:lstStyle/>
          <a:p>
            <a:pPr indent="0" marL="0">
              <a:buNone/>
            </a:pPr>
            <a:r>
              <a:rPr lang="en-US" sz="1600" spc="240" kern="0" dirty="0">
                <a:solidFill>
                  <a:srgbClr val="F4EFE7"/>
                </a:solidFill>
                <a:latin typeface="Inter Bold" pitchFamily="34" charset="0"/>
                <a:ea typeface="Inter Bold" pitchFamily="34" charset="-122"/>
                <a:cs typeface="Inter Bold" pitchFamily="34" charset="-120"/>
              </a:rPr>
              <a:t>SA PHILANTHROPY</a:t>
            </a:r>
            <a:endParaRPr lang="en-US" sz="1600" dirty="0"/>
          </a:p>
        </p:txBody>
      </p:sp>
      <p:sp>
        <p:nvSpPr>
          <p:cNvPr id="3" name="Text 1"/>
          <p:cNvSpPr txBox="1"/>
          <p:nvPr/>
        </p:nvSpPr>
        <p:spPr>
          <a:xfrm>
            <a:off x="777240" y="1901952"/>
            <a:ext cx="10637215" cy="868680"/>
          </a:xfrm>
          <a:prstGeom prst="rect">
            <a:avLst/>
          </a:prstGeom>
          <a:noFill/>
          <a:ln/>
        </p:spPr>
        <p:txBody>
          <a:bodyPr wrap="square" lIns="0" tIns="0" rIns="0" bIns="0" rtlCol="0" anchor="ctr"/>
          <a:lstStyle/>
          <a:p>
            <a:pPr indent="0" marL="0">
              <a:buNone/>
            </a:pPr>
            <a:r>
              <a:rPr lang="en-US" sz="6000" spc="-120" kern="0" dirty="0">
                <a:solidFill>
                  <a:srgbClr val="F4EFE7"/>
                </a:solidFill>
                <a:latin typeface="Inter ExtraBold" pitchFamily="34" charset="0"/>
                <a:ea typeface="Inter ExtraBold" pitchFamily="34" charset="-122"/>
                <a:cs typeface="Inter ExtraBold" pitchFamily="34" charset="-120"/>
              </a:rPr>
              <a:t>Capability</a:t>
            </a:r>
            <a:endParaRPr lang="en-US" sz="6000" dirty="0"/>
          </a:p>
        </p:txBody>
      </p:sp>
      <p:sp>
        <p:nvSpPr>
          <p:cNvPr id="4" name="Text 2"/>
          <p:cNvSpPr txBox="1"/>
          <p:nvPr/>
        </p:nvSpPr>
        <p:spPr>
          <a:xfrm>
            <a:off x="777240" y="2670048"/>
            <a:ext cx="10637215" cy="868680"/>
          </a:xfrm>
          <a:prstGeom prst="rect">
            <a:avLst/>
          </a:prstGeom>
          <a:noFill/>
          <a:ln/>
        </p:spPr>
        <p:txBody>
          <a:bodyPr wrap="square" lIns="0" tIns="0" rIns="0" bIns="0" rtlCol="0" anchor="ctr"/>
          <a:lstStyle/>
          <a:p>
            <a:pPr indent="0" marL="0">
              <a:buNone/>
            </a:pPr>
            <a:r>
              <a:rPr lang="en-US" sz="6000" spc="-120" kern="0" dirty="0">
                <a:solidFill>
                  <a:srgbClr val="F4EFE7"/>
                </a:solidFill>
                <a:latin typeface="Inter ExtraBold" pitchFamily="34" charset="0"/>
                <a:ea typeface="Inter ExtraBold" pitchFamily="34" charset="-122"/>
                <a:cs typeface="Inter ExtraBold" pitchFamily="34" charset="-120"/>
              </a:rPr>
              <a:t>Reference</a:t>
            </a:r>
            <a:endParaRPr lang="en-US" sz="6000" dirty="0"/>
          </a:p>
        </p:txBody>
      </p:sp>
      <p:sp>
        <p:nvSpPr>
          <p:cNvPr id="5" name="Shape 3"/>
          <p:cNvSpPr/>
          <p:nvPr/>
        </p:nvSpPr>
        <p:spPr>
          <a:xfrm>
            <a:off x="777240" y="3730752"/>
            <a:ext cx="1051560" cy="50292"/>
          </a:xfrm>
          <a:prstGeom prst="rect">
            <a:avLst/>
          </a:prstGeom>
          <a:solidFill>
            <a:srgbClr val="7A1F2B"/>
          </a:solidFill>
          <a:ln/>
        </p:spPr>
      </p:sp>
      <p:sp>
        <p:nvSpPr>
          <p:cNvPr id="6" name="Text 4"/>
          <p:cNvSpPr txBox="1"/>
          <p:nvPr/>
        </p:nvSpPr>
        <p:spPr>
          <a:xfrm>
            <a:off x="777240" y="4041648"/>
            <a:ext cx="7020562" cy="457200"/>
          </a:xfrm>
          <a:prstGeom prst="rect">
            <a:avLst/>
          </a:prstGeom>
          <a:noFill/>
          <a:ln/>
        </p:spPr>
        <p:txBody>
          <a:bodyPr wrap="square" lIns="0" tIns="0" rIns="0" bIns="0" rtlCol="0" anchor="ctr"/>
          <a:lstStyle/>
          <a:p>
            <a:pPr indent="0" marL="0">
              <a:buNone/>
            </a:pPr>
            <a:r>
              <a:rPr lang="en-US" sz="1900" dirty="0">
                <a:solidFill>
                  <a:srgbClr val="9AA3AE"/>
                </a:solidFill>
                <a:latin typeface="Inter" pitchFamily="34" charset="0"/>
                <a:ea typeface="Inter" pitchFamily="34" charset="-122"/>
                <a:cs typeface="Inter" pitchFamily="34" charset="-120"/>
              </a:rPr>
              <a:t>What we do, who we do it for, and the proof we can stand behind.</a:t>
            </a:r>
            <a:endParaRPr lang="en-US" sz="1900" dirty="0"/>
          </a:p>
        </p:txBody>
      </p:sp>
      <p:sp>
        <p:nvSpPr>
          <p:cNvPr id="7" name="Text 5"/>
          <p:cNvSpPr txBox="1"/>
          <p:nvPr/>
        </p:nvSpPr>
        <p:spPr>
          <a:xfrm>
            <a:off x="777240" y="6035040"/>
            <a:ext cx="7446051" cy="320040"/>
          </a:xfrm>
          <a:prstGeom prst="rect">
            <a:avLst/>
          </a:prstGeom>
          <a:noFill/>
          <a:ln/>
        </p:spPr>
        <p:txBody>
          <a:bodyPr wrap="square" lIns="0" tIns="0" rIns="0" bIns="0" rtlCol="0" anchor="ctr"/>
          <a:lstStyle/>
          <a:p>
            <a:pPr indent="0" marL="0">
              <a:buNone/>
            </a:pPr>
            <a:r>
              <a:rPr lang="en-US" sz="1500" dirty="0">
                <a:solidFill>
                  <a:srgbClr val="9AA3AE"/>
                </a:solidFill>
                <a:latin typeface="Inter" pitchFamily="34" charset="0"/>
                <a:ea typeface="Inter" pitchFamily="34" charset="-122"/>
                <a:cs typeface="Inter" pitchFamily="34" charset="-120"/>
              </a:rPr>
              <a:t>Internal use only. Not for client distribution.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0B1B34"/>
                </a:solidFill>
                <a:latin typeface="Inter ExtraBold" pitchFamily="34" charset="0"/>
                <a:ea typeface="Inter ExtraBold" pitchFamily="34" charset="-122"/>
                <a:cs typeface="Inter ExtraBold" pitchFamily="34" charset="-120"/>
              </a:rPr>
              <a:t>A SPECIALIST, NOT A GENERALIST AGENCY</a:t>
            </a:r>
            <a:endParaRPr lang="en-US" sz="3200" dirty="0"/>
          </a:p>
        </p:txBody>
      </p:sp>
      <p:sp>
        <p:nvSpPr>
          <p:cNvPr id="3" name="Text 1"/>
          <p:cNvSpPr txBox="1"/>
          <p:nvPr/>
        </p:nvSpPr>
        <p:spPr>
          <a:xfrm>
            <a:off x="777240" y="1609344"/>
            <a:ext cx="9360749" cy="822960"/>
          </a:xfrm>
          <a:prstGeom prst="rect">
            <a:avLst/>
          </a:prstGeom>
          <a:noFill/>
          <a:ln/>
        </p:spPr>
        <p:txBody>
          <a:bodyPr wrap="square" lIns="0" tIns="0" rIns="0" bIns="0" rtlCol="0" anchor="t"/>
          <a:lstStyle/>
          <a:p>
            <a:pPr indent="0" marL="0">
              <a:lnSpc>
                <a:spcPct val="126000"/>
              </a:lnSpc>
              <a:buNone/>
            </a:pPr>
            <a:r>
              <a:rPr lang="en-US" sz="1800" dirty="0">
                <a:solidFill>
                  <a:srgbClr val="0B1B34"/>
                </a:solidFill>
                <a:latin typeface="Inter SemiBold" pitchFamily="34" charset="0"/>
                <a:ea typeface="Inter SemiBold" pitchFamily="34" charset="-122"/>
                <a:cs typeface="Inter SemiBold" pitchFamily="34" charset="-120"/>
              </a:rPr>
              <a:t>SA Philanthropy builds fundraising systems for organisations working across the United States, United Kingdom, Canada and Australia. The specialism is what makes the breadth credible.</a:t>
            </a:r>
            <a:endParaRPr lang="en-US" sz="1800" dirty="0"/>
          </a:p>
        </p:txBody>
      </p:sp>
      <p:sp>
        <p:nvSpPr>
          <p:cNvPr id="4" name="Shape 2"/>
          <p:cNvSpPr/>
          <p:nvPr/>
        </p:nvSpPr>
        <p:spPr>
          <a:xfrm>
            <a:off x="777240" y="3063240"/>
            <a:ext cx="2384984" cy="2148840"/>
          </a:xfrm>
          <a:prstGeom prst="rect">
            <a:avLst/>
          </a:prstGeom>
          <a:solidFill>
            <a:srgbClr val="E6E2DB"/>
          </a:solidFill>
          <a:ln/>
        </p:spPr>
      </p:sp>
      <p:sp>
        <p:nvSpPr>
          <p:cNvPr id="5" name="Text 3"/>
          <p:cNvSpPr txBox="1"/>
          <p:nvPr/>
        </p:nvSpPr>
        <p:spPr>
          <a:xfrm>
            <a:off x="1051560" y="3319272"/>
            <a:ext cx="1836344"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FOUR MARKETS</a:t>
            </a:r>
            <a:endParaRPr lang="en-US" sz="1500" dirty="0"/>
          </a:p>
        </p:txBody>
      </p:sp>
      <p:sp>
        <p:nvSpPr>
          <p:cNvPr id="6" name="Text 4"/>
          <p:cNvSpPr txBox="1"/>
          <p:nvPr/>
        </p:nvSpPr>
        <p:spPr>
          <a:xfrm>
            <a:off x="1051560" y="3849624"/>
            <a:ext cx="1836344" cy="108813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US, UK, Canada and Australia, run as one programme.</a:t>
            </a:r>
            <a:endParaRPr lang="en-US" sz="1500" dirty="0"/>
          </a:p>
        </p:txBody>
      </p:sp>
      <p:sp>
        <p:nvSpPr>
          <p:cNvPr id="7" name="Shape 5"/>
          <p:cNvSpPr/>
          <p:nvPr/>
        </p:nvSpPr>
        <p:spPr>
          <a:xfrm>
            <a:off x="3527984" y="3063240"/>
            <a:ext cx="2384984" cy="2148840"/>
          </a:xfrm>
          <a:prstGeom prst="rect">
            <a:avLst/>
          </a:prstGeom>
          <a:solidFill>
            <a:srgbClr val="E6E2DB"/>
          </a:solidFill>
          <a:ln/>
        </p:spPr>
      </p:sp>
      <p:sp>
        <p:nvSpPr>
          <p:cNvPr id="8" name="Text 6"/>
          <p:cNvSpPr txBox="1"/>
          <p:nvPr/>
        </p:nvSpPr>
        <p:spPr>
          <a:xfrm>
            <a:off x="3802304" y="3319272"/>
            <a:ext cx="1836344"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SYSTEMS, NOT CAMPAIGNS</a:t>
            </a:r>
            <a:endParaRPr lang="en-US" sz="1500" dirty="0"/>
          </a:p>
        </p:txBody>
      </p:sp>
      <p:sp>
        <p:nvSpPr>
          <p:cNvPr id="9" name="Text 7"/>
          <p:cNvSpPr txBox="1"/>
          <p:nvPr/>
        </p:nvSpPr>
        <p:spPr>
          <a:xfrm>
            <a:off x="3802304" y="3849624"/>
            <a:ext cx="1836344" cy="108813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Built to keep working after the engagement ends.</a:t>
            </a:r>
            <a:endParaRPr lang="en-US" sz="1500" dirty="0"/>
          </a:p>
        </p:txBody>
      </p:sp>
      <p:sp>
        <p:nvSpPr>
          <p:cNvPr id="10" name="Shape 8"/>
          <p:cNvSpPr/>
          <p:nvPr/>
        </p:nvSpPr>
        <p:spPr>
          <a:xfrm>
            <a:off x="6278728" y="3063240"/>
            <a:ext cx="2384984" cy="2148840"/>
          </a:xfrm>
          <a:prstGeom prst="rect">
            <a:avLst/>
          </a:prstGeom>
          <a:solidFill>
            <a:srgbClr val="E6E2DB"/>
          </a:solidFill>
          <a:ln/>
        </p:spPr>
      </p:sp>
      <p:sp>
        <p:nvSpPr>
          <p:cNvPr id="11" name="Text 9"/>
          <p:cNvSpPr txBox="1"/>
          <p:nvPr/>
        </p:nvSpPr>
        <p:spPr>
          <a:xfrm>
            <a:off x="6553048" y="3319272"/>
            <a:ext cx="1836344"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EVIDENCE LED</a:t>
            </a:r>
            <a:endParaRPr lang="en-US" sz="1500" dirty="0"/>
          </a:p>
        </p:txBody>
      </p:sp>
      <p:sp>
        <p:nvSpPr>
          <p:cNvPr id="12" name="Text 10"/>
          <p:cNvSpPr txBox="1"/>
          <p:nvPr/>
        </p:nvSpPr>
        <p:spPr>
          <a:xfrm>
            <a:off x="6553048" y="3849624"/>
            <a:ext cx="1836344" cy="108813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Every recommendation carries a number or a test.</a:t>
            </a:r>
            <a:endParaRPr lang="en-US" sz="1500" dirty="0"/>
          </a:p>
        </p:txBody>
      </p:sp>
      <p:sp>
        <p:nvSpPr>
          <p:cNvPr id="13" name="Shape 11"/>
          <p:cNvSpPr/>
          <p:nvPr/>
        </p:nvSpPr>
        <p:spPr>
          <a:xfrm>
            <a:off x="9029471" y="3063240"/>
            <a:ext cx="2384984" cy="2148840"/>
          </a:xfrm>
          <a:prstGeom prst="rect">
            <a:avLst/>
          </a:prstGeom>
          <a:solidFill>
            <a:srgbClr val="E6E2DB"/>
          </a:solidFill>
          <a:ln/>
        </p:spPr>
      </p:sp>
      <p:sp>
        <p:nvSpPr>
          <p:cNvPr id="14" name="Text 12"/>
          <p:cNvSpPr txBox="1"/>
          <p:nvPr/>
        </p:nvSpPr>
        <p:spPr>
          <a:xfrm>
            <a:off x="9303791" y="3319272"/>
            <a:ext cx="1836344"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PRACTITIONER VOICE</a:t>
            </a:r>
            <a:endParaRPr lang="en-US" sz="1500" dirty="0"/>
          </a:p>
        </p:txBody>
      </p:sp>
      <p:sp>
        <p:nvSpPr>
          <p:cNvPr id="15" name="Text 13"/>
          <p:cNvSpPr txBox="1"/>
          <p:nvPr/>
        </p:nvSpPr>
        <p:spPr>
          <a:xfrm>
            <a:off x="9303791" y="3849624"/>
            <a:ext cx="1836344" cy="108813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We publish what we know. It is how they find us.</a:t>
            </a:r>
            <a:endParaRPr lang="en-US" sz="1500" dirty="0"/>
          </a:p>
        </p:txBody>
      </p:sp>
      <p:sp>
        <p:nvSpPr>
          <p:cNvPr id="16" name="Text 14"/>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686F7C"/>
                </a:solidFill>
                <a:latin typeface="Inter" pitchFamily="34" charset="0"/>
                <a:ea typeface="Inter" pitchFamily="34" charset="-122"/>
                <a:cs typeface="Inter"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F4EFE7"/>
                </a:solidFill>
                <a:latin typeface="Inter ExtraBold" pitchFamily="34" charset="0"/>
                <a:ea typeface="Inter ExtraBold" pitchFamily="34" charset="-122"/>
                <a:cs typeface="Inter ExtraBold" pitchFamily="34" charset="-120"/>
              </a:rPr>
              <a:t>ISLAMIC PHILANTHROPY IS THE SPINE</a:t>
            </a:r>
            <a:endParaRPr lang="en-US" sz="3200" dirty="0"/>
          </a:p>
        </p:txBody>
      </p:sp>
      <p:sp>
        <p:nvSpPr>
          <p:cNvPr id="3" name="Text 1"/>
          <p:cNvSpPr txBox="1"/>
          <p:nvPr/>
        </p:nvSpPr>
        <p:spPr>
          <a:xfrm>
            <a:off x="777240" y="1609344"/>
            <a:ext cx="9360749" cy="822960"/>
          </a:xfrm>
          <a:prstGeom prst="rect">
            <a:avLst/>
          </a:prstGeom>
          <a:noFill/>
          <a:ln/>
        </p:spPr>
        <p:txBody>
          <a:bodyPr wrap="square" lIns="0" tIns="0" rIns="0" bIns="0" rtlCol="0" anchor="t"/>
          <a:lstStyle/>
          <a:p>
            <a:pPr indent="0" marL="0">
              <a:lnSpc>
                <a:spcPct val="126000"/>
              </a:lnSpc>
              <a:buNone/>
            </a:pPr>
            <a:r>
              <a:rPr lang="en-US" sz="1800" dirty="0">
                <a:solidFill>
                  <a:srgbClr val="F4EFE7"/>
                </a:solidFill>
                <a:latin typeface="Inter SemiBold" pitchFamily="34" charset="0"/>
                <a:ea typeface="Inter SemiBold" pitchFamily="34" charset="-122"/>
                <a:cs typeface="Inter SemiBold" pitchFamily="34" charset="-120"/>
              </a:rPr>
              <a:t>Zakat, Ramadan and Dhul Hijjah are not seasonal add ons. They are a distinct donor economy with its own compliance expectations, timing and trust signals.</a:t>
            </a:r>
            <a:endParaRPr lang="en-US" sz="1800" dirty="0"/>
          </a:p>
        </p:txBody>
      </p:sp>
      <p:sp>
        <p:nvSpPr>
          <p:cNvPr id="4" name="Shape 2"/>
          <p:cNvSpPr/>
          <p:nvPr/>
        </p:nvSpPr>
        <p:spPr>
          <a:xfrm>
            <a:off x="777240" y="3063240"/>
            <a:ext cx="3289706" cy="2103120"/>
          </a:xfrm>
          <a:prstGeom prst="rect">
            <a:avLst/>
          </a:prstGeom>
          <a:solidFill>
            <a:srgbClr val="F4EFE7"/>
          </a:solidFill>
          <a:ln/>
        </p:spPr>
      </p:sp>
      <p:sp>
        <p:nvSpPr>
          <p:cNvPr id="5" name="Text 3"/>
          <p:cNvSpPr txBox="1"/>
          <p:nvPr/>
        </p:nvSpPr>
        <p:spPr>
          <a:xfrm>
            <a:off x="1051560" y="3319272"/>
            <a:ext cx="2741066"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COMPLIANCE</a:t>
            </a:r>
            <a:endParaRPr lang="en-US" sz="1500" dirty="0"/>
          </a:p>
        </p:txBody>
      </p:sp>
      <p:sp>
        <p:nvSpPr>
          <p:cNvPr id="6" name="Text 4"/>
          <p:cNvSpPr txBox="1"/>
          <p:nvPr/>
        </p:nvSpPr>
        <p:spPr>
          <a:xfrm>
            <a:off x="1051560" y="3849624"/>
            <a:ext cx="2741066" cy="104241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Governance, Shariah oversight, segregated accounting and distribution timelines.</a:t>
            </a:r>
            <a:endParaRPr lang="en-US" sz="1500" dirty="0"/>
          </a:p>
        </p:txBody>
      </p:sp>
      <p:sp>
        <p:nvSpPr>
          <p:cNvPr id="7" name="Shape 5"/>
          <p:cNvSpPr/>
          <p:nvPr/>
        </p:nvSpPr>
        <p:spPr>
          <a:xfrm>
            <a:off x="4450994" y="3063240"/>
            <a:ext cx="3289706" cy="2103120"/>
          </a:xfrm>
          <a:prstGeom prst="rect">
            <a:avLst/>
          </a:prstGeom>
          <a:solidFill>
            <a:srgbClr val="F4EFE7"/>
          </a:solidFill>
          <a:ln/>
        </p:spPr>
      </p:sp>
      <p:sp>
        <p:nvSpPr>
          <p:cNvPr id="8" name="Text 6"/>
          <p:cNvSpPr txBox="1"/>
          <p:nvPr/>
        </p:nvSpPr>
        <p:spPr>
          <a:xfrm>
            <a:off x="4725314" y="3319272"/>
            <a:ext cx="2741066"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SEASONAL ARCHITECTURE</a:t>
            </a:r>
            <a:endParaRPr lang="en-US" sz="1500" dirty="0"/>
          </a:p>
        </p:txBody>
      </p:sp>
      <p:sp>
        <p:nvSpPr>
          <p:cNvPr id="9" name="Text 7"/>
          <p:cNvSpPr txBox="1"/>
          <p:nvPr/>
        </p:nvSpPr>
        <p:spPr>
          <a:xfrm>
            <a:off x="4725314" y="3849624"/>
            <a:ext cx="2741066" cy="104241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Ramadan and Dhul Hijjah planned as campaigns in their own right.</a:t>
            </a:r>
            <a:endParaRPr lang="en-US" sz="1500" dirty="0"/>
          </a:p>
        </p:txBody>
      </p:sp>
      <p:sp>
        <p:nvSpPr>
          <p:cNvPr id="10" name="Shape 8"/>
          <p:cNvSpPr/>
          <p:nvPr/>
        </p:nvSpPr>
        <p:spPr>
          <a:xfrm>
            <a:off x="8124749" y="3063240"/>
            <a:ext cx="3289706" cy="2103120"/>
          </a:xfrm>
          <a:prstGeom prst="rect">
            <a:avLst/>
          </a:prstGeom>
          <a:solidFill>
            <a:srgbClr val="F4EFE7"/>
          </a:solidFill>
          <a:ln/>
        </p:spPr>
      </p:sp>
      <p:sp>
        <p:nvSpPr>
          <p:cNvPr id="11" name="Text 9"/>
          <p:cNvSpPr txBox="1"/>
          <p:nvPr/>
        </p:nvSpPr>
        <p:spPr>
          <a:xfrm>
            <a:off x="8399069" y="3319272"/>
            <a:ext cx="2741066"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SCHOLARLY SIGN OFF</a:t>
            </a:r>
            <a:endParaRPr lang="en-US" sz="1500" dirty="0"/>
          </a:p>
        </p:txBody>
      </p:sp>
      <p:sp>
        <p:nvSpPr>
          <p:cNvPr id="12" name="Text 10"/>
          <p:cNvSpPr txBox="1"/>
          <p:nvPr/>
        </p:nvSpPr>
        <p:spPr>
          <a:xfrm>
            <a:off x="8399069" y="3849624"/>
            <a:ext cx="2741066" cy="104241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Fiqh content routes to our reviewer first. We do not certify rulings ourselves.</a:t>
            </a:r>
            <a:endParaRPr lang="en-US" sz="1500" dirty="0"/>
          </a:p>
        </p:txBody>
      </p:sp>
      <p:sp>
        <p:nvSpPr>
          <p:cNvPr id="13" name="Text 11"/>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9AA3AE"/>
                </a:solidFill>
                <a:latin typeface="Inter" pitchFamily="34" charset="0"/>
                <a:ea typeface="Inter" pitchFamily="34" charset="-122"/>
                <a:cs typeface="Inter" pitchFamily="34" charset="-120"/>
              </a:rPr>
              <a:t>03</a:t>
            </a:r>
            <a:endParaRPr lang="en-US" sz="1500" dirty="0"/>
          </a:p>
        </p:txBody>
      </p:sp>
      <p:sp>
        <p:nvSpPr>
          <p:cNvPr id="14" name="Text 12"/>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9AA3AE"/>
                </a:solidFill>
                <a:latin typeface="Inter" pitchFamily="34" charset="0"/>
                <a:ea typeface="Inter" pitchFamily="34" charset="-122"/>
                <a:cs typeface="Inter" pitchFamily="34" charset="-120"/>
              </a:rPr>
              <a:t>Published engagements and the Zakat readiness checklist, sarahaliphilanthropy.com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0B1B34"/>
                </a:solidFill>
                <a:latin typeface="Inter ExtraBold" pitchFamily="34" charset="0"/>
                <a:ea typeface="Inter ExtraBold" pitchFamily="34" charset="-122"/>
                <a:cs typeface="Inter ExtraBold" pitchFamily="34" charset="-120"/>
              </a:rPr>
              <a:t>FOUR DISCIPLINES, ONE OPEN QUESTION</a:t>
            </a:r>
            <a:endParaRPr lang="en-US" sz="3200" dirty="0"/>
          </a:p>
        </p:txBody>
      </p:sp>
      <p:sp>
        <p:nvSpPr>
          <p:cNvPr id="3" name="Text 1"/>
          <p:cNvSpPr txBox="1"/>
          <p:nvPr/>
        </p:nvSpPr>
        <p:spPr>
          <a:xfrm>
            <a:off x="777240" y="1609344"/>
            <a:ext cx="9360749" cy="822960"/>
          </a:xfrm>
          <a:prstGeom prst="rect">
            <a:avLst/>
          </a:prstGeom>
          <a:noFill/>
          <a:ln/>
        </p:spPr>
        <p:txBody>
          <a:bodyPr wrap="square" lIns="0" tIns="0" rIns="0" bIns="0" rtlCol="0" anchor="t"/>
          <a:lstStyle/>
          <a:p>
            <a:pPr indent="0" marL="0">
              <a:lnSpc>
                <a:spcPct val="126000"/>
              </a:lnSpc>
              <a:buNone/>
            </a:pPr>
            <a:r>
              <a:rPr lang="en-US" sz="1800" dirty="0">
                <a:solidFill>
                  <a:srgbClr val="0B1B34"/>
                </a:solidFill>
                <a:latin typeface="Inter SemiBold" pitchFamily="34" charset="0"/>
                <a:ea typeface="Inter SemiBold" pitchFamily="34" charset="-122"/>
                <a:cs typeface="Inter SemiBold" pitchFamily="34" charset="-120"/>
              </a:rPr>
              <a:t>Our own published guidance says an agency claiming all four disciplines equally is describing an ambition, not a capability. Our case studies span all four. How we scope that claim is a decision we owe ourselves.</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3246120"/>
          <a:ext cx="10637215" cy="914400"/>
        </p:xfrm>
        <a:graphic>
          <a:graphicData uri="http://schemas.openxmlformats.org/drawingml/2006/table">
            <a:tbl>
              <a:tblPr/>
              <a:tblGrid>
                <a:gridCol w="2834640"/>
                <a:gridCol w="4023360"/>
                <a:gridCol w="3776472"/>
              </a:tblGrid>
              <a:tr h="0">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DISCIPLINE</a:t>
                      </a:r>
                      <a:endParaRPr lang="en-US" sz="1500" dirty="0">
                        <a:latin typeface="Inter Bold" charset="0"/>
                        <a:ea typeface="Inter Bold" charset="0"/>
                        <a:cs typeface="Inter 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0B1B34"/>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WHAT IT COVERS</a:t>
                      </a:r>
                      <a:endParaRPr lang="en-US" sz="1500" dirty="0">
                        <a:latin typeface="Inter Bold" charset="0"/>
                        <a:ea typeface="Inter Bold" charset="0"/>
                        <a:cs typeface="Inter 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0B1B34"/>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MEASURED ON</a:t>
                      </a:r>
                      <a:endParaRPr lang="en-US" sz="1500" dirty="0">
                        <a:latin typeface="Inter Bold" charset="0"/>
                        <a:ea typeface="Inter Bold" charset="0"/>
                        <a:cs typeface="Inter 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0B1B34"/>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Paid acquisition</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Meta, search, programmatic</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Cost per acquisition and ROAS</a:t>
                      </a:r>
                      <a:endParaRPr lang="en-US" sz="1500" dirty="0">
                        <a:latin typeface="Inter SemiBold" charset="0"/>
                        <a:ea typeface="Inter SemiBold" charset="0"/>
                        <a:cs typeface="Inter Semi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Strategy and case</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Feasibility, case for support</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Qualified pipeline built</a:t>
                      </a:r>
                      <a:endParaRPr lang="en-US" sz="1500" dirty="0">
                        <a:latin typeface="Inter SemiBold" charset="0"/>
                        <a:ea typeface="Inter SemiBold" charset="0"/>
                        <a:cs typeface="Inter Semi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Direct response</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Email, SMS, monthly giving</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Net revenue per donor</a:t>
                      </a:r>
                      <a:endParaRPr lang="en-US" sz="1500" dirty="0">
                        <a:latin typeface="Inter SemiBold" charset="0"/>
                        <a:ea typeface="Inter SemiBold" charset="0"/>
                        <a:cs typeface="Inter Semi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Brand and creative</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Positioning, message architecture</a:t>
                      </a:r>
                      <a:endParaRPr lang="en-US" sz="1500" dirty="0">
                        <a:latin typeface="Inter" charset="0"/>
                        <a:ea typeface="Inter" charset="0"/>
                        <a:cs typeface="Inter"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Lift to the channels above</a:t>
                      </a:r>
                      <a:endParaRPr lang="en-US" sz="1500" dirty="0">
                        <a:latin typeface="Inter SemiBold" charset="0"/>
                        <a:ea typeface="Inter SemiBold" charset="0"/>
                        <a:cs typeface="Inter SemiBold" charset="0"/>
                      </a:endParaRPr>
                    </a:p>
                  </a:txBody>
                  <a:tcPr marL="177800" marR="177800" marT="139700" marB="139700">
                    <a:lnL w="0" cap="flat" cmpd="sng" algn="ctr">
                      <a:noFill/>
                    </a:lnL>
                    <a:lnR w="0" cap="flat" cmpd="sng" algn="ctr">
                      <a:noFill/>
                    </a:lnR>
                    <a:lnT w="0" cap="flat" cmpd="sng" algn="ctr">
                      <a:noFill/>
                    </a:lnT>
                    <a:lnB w="0" cap="flat" cmpd="sng" algn="ctr">
                      <a:noFill/>
                    </a:lnB>
                    <a:solidFill>
                      <a:srgbClr val="F4EFE7"/>
                    </a:solidFill>
                  </a:tcPr>
                </a:tc>
              </a:tr>
            </a:tbl>
          </a:graphicData>
        </a:graphic>
      </p:graphicFrame>
      <p:sp>
        <p:nvSpPr>
          <p:cNvPr id="5" name="Text 2"/>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686F7C"/>
                </a:solidFill>
                <a:latin typeface="Inter" pitchFamily="34" charset="0"/>
                <a:ea typeface="Inter" pitchFamily="34" charset="-122"/>
                <a:cs typeface="Inter" pitchFamily="34" charset="-120"/>
              </a:rPr>
              <a:t>04</a:t>
            </a:r>
            <a:endParaRPr lang="en-US" sz="1500" dirty="0"/>
          </a:p>
        </p:txBody>
      </p:sp>
      <p:sp>
        <p:nvSpPr>
          <p:cNvPr id="6" name="Text 3"/>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686F7C"/>
                </a:solidFill>
                <a:latin typeface="Inter" pitchFamily="34" charset="0"/>
                <a:ea typeface="Inter" pitchFamily="34" charset="-122"/>
                <a:cs typeface="Inter" pitchFamily="34" charset="-120"/>
              </a:rPr>
              <a:t>Source: How Do You Choose a Fundraising Agency, sarahaliphilanthropy.com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F4EFE7"/>
                </a:solidFill>
                <a:latin typeface="Inter ExtraBold" pitchFamily="34" charset="0"/>
                <a:ea typeface="Inter ExtraBold" pitchFamily="34" charset="-122"/>
                <a:cs typeface="Inter ExtraBold" pitchFamily="34" charset="-120"/>
              </a:rPr>
              <a:t>THE NUMBER WE LEAD WITH</a:t>
            </a:r>
            <a:endParaRPr lang="en-US" sz="3200" dirty="0"/>
          </a:p>
        </p:txBody>
      </p:sp>
      <p:sp>
        <p:nvSpPr>
          <p:cNvPr id="3" name="Shape 1"/>
          <p:cNvSpPr/>
          <p:nvPr/>
        </p:nvSpPr>
        <p:spPr>
          <a:xfrm>
            <a:off x="777240" y="2697480"/>
            <a:ext cx="4617720" cy="1920240"/>
          </a:xfrm>
          <a:prstGeom prst="rect">
            <a:avLst/>
          </a:prstGeom>
          <a:solidFill>
            <a:srgbClr val="F4EFE7"/>
          </a:solidFill>
          <a:ln/>
        </p:spPr>
      </p:sp>
      <p:sp>
        <p:nvSpPr>
          <p:cNvPr id="4" name="Text 2"/>
          <p:cNvSpPr txBox="1"/>
          <p:nvPr/>
        </p:nvSpPr>
        <p:spPr>
          <a:xfrm>
            <a:off x="777240" y="3127248"/>
            <a:ext cx="4617720" cy="1097280"/>
          </a:xfrm>
          <a:prstGeom prst="rect">
            <a:avLst/>
          </a:prstGeom>
          <a:noFill/>
          <a:ln/>
        </p:spPr>
        <p:txBody>
          <a:bodyPr wrap="square" lIns="0" tIns="0" rIns="0" bIns="0" rtlCol="0" anchor="ctr"/>
          <a:lstStyle/>
          <a:p>
            <a:pPr algn="ctr" indent="0" marL="0">
              <a:buNone/>
            </a:pPr>
            <a:r>
              <a:rPr lang="en-US" sz="5800" spc="-150" kern="0" dirty="0">
                <a:solidFill>
                  <a:srgbClr val="0B1B34"/>
                </a:solidFill>
                <a:latin typeface="Inter ExtraBold" pitchFamily="34" charset="0"/>
                <a:ea typeface="Inter ExtraBold" pitchFamily="34" charset="-122"/>
                <a:cs typeface="Inter ExtraBold" pitchFamily="34" charset="-120"/>
              </a:rPr>
              <a:t>A$5.22M</a:t>
            </a:r>
            <a:endParaRPr lang="en-US" sz="5800" dirty="0"/>
          </a:p>
        </p:txBody>
      </p:sp>
      <p:sp>
        <p:nvSpPr>
          <p:cNvPr id="5" name="Text 3"/>
          <p:cNvSpPr txBox="1"/>
          <p:nvPr/>
        </p:nvSpPr>
        <p:spPr>
          <a:xfrm>
            <a:off x="5852160" y="2788920"/>
            <a:ext cx="5562295" cy="1783080"/>
          </a:xfrm>
          <a:prstGeom prst="rect">
            <a:avLst/>
          </a:prstGeom>
          <a:noFill/>
          <a:ln/>
        </p:spPr>
        <p:txBody>
          <a:bodyPr wrap="square" lIns="0" tIns="0" rIns="0" bIns="0" rtlCol="0" anchor="t"/>
          <a:lstStyle/>
          <a:p>
            <a:pPr indent="0" marL="0">
              <a:lnSpc>
                <a:spcPct val="130000"/>
              </a:lnSpc>
              <a:buNone/>
            </a:pPr>
            <a:r>
              <a:rPr lang="en-US" sz="2100" dirty="0">
                <a:solidFill>
                  <a:srgbClr val="F4EFE7"/>
                </a:solidFill>
                <a:latin typeface="Inter SemiBold" pitchFamily="34" charset="0"/>
                <a:ea typeface="Inter SemiBold" pitchFamily="34" charset="-122"/>
                <a:cs typeface="Inter SemiBold" pitchFamily="34" charset="-120"/>
              </a:rPr>
              <a:t>raised in high net worth major gifts from 200 donors across the United States, United Kingdom and Canada, in a single fiscal year.</a:t>
            </a:r>
            <a:endParaRPr lang="en-US" sz="2100" dirty="0"/>
          </a:p>
        </p:txBody>
      </p:sp>
      <p:sp>
        <p:nvSpPr>
          <p:cNvPr id="6" name="Text 4"/>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9AA3AE"/>
                </a:solidFill>
                <a:latin typeface="Inter" pitchFamily="34" charset="0"/>
                <a:ea typeface="Inter" pitchFamily="34" charset="-122"/>
                <a:cs typeface="Inter" pitchFamily="34" charset="-120"/>
              </a:rPr>
              <a:t>05</a:t>
            </a:r>
            <a:endParaRPr lang="en-US" sz="1500" dirty="0"/>
          </a:p>
        </p:txBody>
      </p:sp>
      <p:sp>
        <p:nvSpPr>
          <p:cNvPr id="7" name="Text 5"/>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9AA3AE"/>
                </a:solidFill>
                <a:latin typeface="Inter" pitchFamily="34" charset="0"/>
                <a:ea typeface="Inter" pitchFamily="34" charset="-122"/>
                <a:cs typeface="Inter" pitchFamily="34" charset="-120"/>
              </a:rPr>
              <a:t>Case study: international relief charity, 2025 to 26. Requires Sarah sign off.</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0B1B34"/>
                </a:solidFill>
                <a:latin typeface="Inter ExtraBold" pitchFamily="34" charset="0"/>
                <a:ea typeface="Inter ExtraBold" pitchFamily="34" charset="-122"/>
                <a:cs typeface="Inter ExtraBold" pitchFamily="34" charset="-120"/>
              </a:rPr>
              <a:t>PROVEN ACROSS MARKETS AND MANDATES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2121408"/>
          <a:ext cx="10637215" cy="914400"/>
        </p:xfrm>
        <a:graphic>
          <a:graphicData uri="http://schemas.openxmlformats.org/drawingml/2006/table">
            <a:tbl>
              <a:tblPr/>
              <a:tblGrid>
                <a:gridCol w="4526280"/>
                <a:gridCol w="2194560"/>
                <a:gridCol w="3913632"/>
              </a:tblGrid>
              <a:tr h="0">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MANDATE</a:t>
                      </a:r>
                      <a:endParaRPr lang="en-US" sz="1500" dirty="0">
                        <a:latin typeface="Inter Bold" charset="0"/>
                        <a:ea typeface="Inter Bold" charset="0"/>
                        <a:cs typeface="Inter 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0B1B34"/>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MARKETS</a:t>
                      </a:r>
                      <a:endParaRPr lang="en-US" sz="1500" dirty="0">
                        <a:latin typeface="Inter Bold" charset="0"/>
                        <a:ea typeface="Inter Bold" charset="0"/>
                        <a:cs typeface="Inter 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0B1B34"/>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RESULT</a:t>
                      </a:r>
                      <a:endParaRPr lang="en-US" sz="1500" dirty="0">
                        <a:latin typeface="Inter Bold" charset="0"/>
                        <a:ea typeface="Inter Bold" charset="0"/>
                        <a:cs typeface="Inter 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0B1B34"/>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Major gifts, moves management</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US, UK, CA</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A$5.22M from 200 donors</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Ramadan campaign</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UK, US, CA</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$4.8M raised in 30 days</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Executive engagement</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UK, US, CA, AU</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4.11x ROI in 90 days</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Integrated email, social and paid</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CA, US, UK</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25.41x Canadian paid media ROI</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Monthly giving programme</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International</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$1.3M annual recurring revenue</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Donation page testing</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pitchFamily="34" charset="0"/>
                          <a:ea typeface="Inter" pitchFamily="34" charset="-122"/>
                          <a:cs typeface="Inter" pitchFamily="34" charset="-120"/>
                        </a:rPr>
                        <a:t>North America</a:t>
                      </a:r>
                      <a:endParaRPr lang="en-US" sz="1500" dirty="0">
                        <a:latin typeface="Inter" charset="0"/>
                        <a:ea typeface="Inter" charset="0"/>
                        <a:cs typeface="Inter"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80% revenue lift, 90% recurring lift</a:t>
                      </a:r>
                      <a:endParaRPr lang="en-US" sz="1500" dirty="0">
                        <a:latin typeface="Inter SemiBold" charset="0"/>
                        <a:ea typeface="Inter SemiBold" charset="0"/>
                        <a:cs typeface="Inter SemiBold" charset="0"/>
                      </a:endParaRPr>
                    </a:p>
                  </a:txBody>
                  <a:tcPr marL="177800" marR="177800" marT="127000" marB="127000">
                    <a:lnL w="0" cap="flat" cmpd="sng" algn="ctr">
                      <a:noFill/>
                    </a:lnL>
                    <a:lnR w="0" cap="flat" cmpd="sng" algn="ctr">
                      <a:noFill/>
                    </a:lnR>
                    <a:lnT w="0" cap="flat" cmpd="sng" algn="ctr">
                      <a:noFill/>
                    </a:lnT>
                    <a:lnB w="0" cap="flat" cmpd="sng" algn="ctr">
                      <a:noFill/>
                    </a:lnB>
                    <a:solidFill>
                      <a:srgbClr val="F4EFE7"/>
                    </a:solidFill>
                  </a:tcPr>
                </a:tc>
              </a:tr>
            </a:tbl>
          </a:graphicData>
        </a:graphic>
      </p:graphicFrame>
      <p:sp>
        <p:nvSpPr>
          <p:cNvPr id="4" name="Text 1"/>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686F7C"/>
                </a:solidFill>
                <a:latin typeface="Inter" pitchFamily="34" charset="0"/>
                <a:ea typeface="Inter" pitchFamily="34" charset="-122"/>
                <a:cs typeface="Inter" pitchFamily="34" charset="-120"/>
              </a:rPr>
              <a:t>06</a:t>
            </a:r>
            <a:endParaRPr lang="en-US" sz="1500" dirty="0"/>
          </a:p>
        </p:txBody>
      </p:sp>
      <p:sp>
        <p:nvSpPr>
          <p:cNvPr id="5" name="Text 2"/>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686F7C"/>
                </a:solidFill>
                <a:latin typeface="Inter" pitchFamily="34" charset="0"/>
                <a:ea typeface="Inter" pitchFamily="34" charset="-122"/>
                <a:cs typeface="Inter" pitchFamily="34" charset="-120"/>
              </a:rPr>
              <a:t>Published case studies, sarahaliphilanthropy.com/results. All figures require Sarah sign off.</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F4EFE7"/>
                </a:solidFill>
                <a:latin typeface="Inter ExtraBold" pitchFamily="34" charset="0"/>
                <a:ea typeface="Inter ExtraBold" pitchFamily="34" charset="-122"/>
                <a:cs typeface="Inter ExtraBold" pitchFamily="34" charset="-120"/>
              </a:rPr>
              <a:t>HOW WE TALK ABOUT THE WORK</a:t>
            </a:r>
            <a:endParaRPr lang="en-US" sz="3200" dirty="0"/>
          </a:p>
        </p:txBody>
      </p:sp>
      <p:sp>
        <p:nvSpPr>
          <p:cNvPr id="3" name="Text 1"/>
          <p:cNvSpPr txBox="1"/>
          <p:nvPr/>
        </p:nvSpPr>
        <p:spPr>
          <a:xfrm>
            <a:off x="777240" y="1609344"/>
            <a:ext cx="9360749" cy="822960"/>
          </a:xfrm>
          <a:prstGeom prst="rect">
            <a:avLst/>
          </a:prstGeom>
          <a:noFill/>
          <a:ln/>
        </p:spPr>
        <p:txBody>
          <a:bodyPr wrap="square" lIns="0" tIns="0" rIns="0" bIns="0" rtlCol="0" anchor="t"/>
          <a:lstStyle/>
          <a:p>
            <a:pPr indent="0" marL="0">
              <a:lnSpc>
                <a:spcPct val="126000"/>
              </a:lnSpc>
              <a:buNone/>
            </a:pPr>
            <a:r>
              <a:rPr lang="en-US" sz="1800" dirty="0">
                <a:solidFill>
                  <a:srgbClr val="F4EFE7"/>
                </a:solidFill>
                <a:latin typeface="Inter SemiBold" pitchFamily="34" charset="0"/>
                <a:ea typeface="Inter SemiBold" pitchFamily="34" charset="-122"/>
                <a:cs typeface="Inter SemiBold" pitchFamily="34" charset="-120"/>
              </a:rPr>
              <a:t>House language. Not preferences. Every external asset is checked against these before it leaves the firm.</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2788920"/>
          <a:ext cx="10637215" cy="914400"/>
        </p:xfrm>
        <a:graphic>
          <a:graphicData uri="http://schemas.openxmlformats.org/drawingml/2006/table">
            <a:tbl>
              <a:tblPr/>
              <a:tblGrid>
                <a:gridCol w="5303520"/>
                <a:gridCol w="5330952"/>
              </a:tblGrid>
              <a:tr h="0">
                <a:tc>
                  <a:txBody>
                    <a:bodyPr/>
                    <a:lstStyle/>
                    <a:p>
                      <a:pPr indent="0" marL="0">
                        <a:buNone/>
                      </a:pPr>
                      <a:r>
                        <a:rPr lang="en-US" sz="1500" spc="100" kern="0" dirty="0">
                          <a:solidFill>
                            <a:srgbClr val="0B1B34"/>
                          </a:solidFill>
                          <a:latin typeface="Inter Bold" pitchFamily="34" charset="0"/>
                          <a:ea typeface="Inter Bold" pitchFamily="34" charset="-122"/>
                          <a:cs typeface="Inter Bold" pitchFamily="34" charset="-120"/>
                        </a:rPr>
                        <a:t>WE SAY</a:t>
                      </a:r>
                      <a:endParaRPr lang="en-US" sz="1500" dirty="0">
                        <a:latin typeface="Inter Bold" charset="0"/>
                        <a:ea typeface="Inter Bold" charset="0"/>
                        <a:cs typeface="Inter 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WE DO NOT SAY</a:t>
                      </a:r>
                      <a:endParaRPr lang="en-US" sz="1500" dirty="0">
                        <a:latin typeface="Inter Bold" charset="0"/>
                        <a:ea typeface="Inter Bold" charset="0"/>
                        <a:cs typeface="Inter 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7A1F2B"/>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SA Philanthropy</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SAP, or any abbreviation</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Organisations and nonprofits</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Donors, when we mean clients</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45 minute working session</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Consultation</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90 day scale roadmap</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Audit</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Ranges written with "to"</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Dashes of any kind, anywhere</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UK English throughout</a:t>
                      </a:r>
                      <a:endParaRPr lang="en-US" sz="1500" dirty="0">
                        <a:latin typeface="Inter SemiBold" charset="0"/>
                        <a:ea typeface="Inter SemiBold" charset="0"/>
                        <a:cs typeface="Inter SemiBold"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686F7C"/>
                          </a:solidFill>
                          <a:latin typeface="Inter" pitchFamily="34" charset="0"/>
                          <a:ea typeface="Inter" pitchFamily="34" charset="-122"/>
                          <a:cs typeface="Inter" pitchFamily="34" charset="-120"/>
                        </a:rPr>
                        <a:t>US spellings, except in sourced figures</a:t>
                      </a:r>
                      <a:endParaRPr lang="en-US" sz="1500" dirty="0">
                        <a:latin typeface="Inter" charset="0"/>
                        <a:ea typeface="Inter" charset="0"/>
                        <a:cs typeface="Inter" charset="0"/>
                      </a:endParaRPr>
                    </a:p>
                  </a:txBody>
                  <a:tcPr marL="177800" marR="177800" marT="114300" marB="114300">
                    <a:lnL w="0" cap="flat" cmpd="sng" algn="ctr">
                      <a:noFill/>
                    </a:lnL>
                    <a:lnR w="0" cap="flat" cmpd="sng" algn="ctr">
                      <a:noFill/>
                    </a:lnR>
                    <a:lnT w="0" cap="flat" cmpd="sng" algn="ctr">
                      <a:noFill/>
                    </a:lnT>
                    <a:lnB w="0" cap="flat" cmpd="sng" algn="ctr">
                      <a:noFill/>
                    </a:lnB>
                    <a:solidFill>
                      <a:srgbClr val="F4EFE7"/>
                    </a:solidFill>
                  </a:tcPr>
                </a:tc>
              </a:tr>
            </a:tbl>
          </a:graphicData>
        </a:graphic>
      </p:graphicFrame>
      <p:sp>
        <p:nvSpPr>
          <p:cNvPr id="5" name="Text 2"/>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9AA3AE"/>
                </a:solidFill>
                <a:latin typeface="Inter" pitchFamily="34" charset="0"/>
                <a:ea typeface="Inter" pitchFamily="34" charset="-122"/>
                <a:cs typeface="Inter"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0B1B34"/>
                </a:solidFill>
                <a:latin typeface="Inter ExtraBold" pitchFamily="34" charset="0"/>
                <a:ea typeface="Inter ExtraBold" pitchFamily="34" charset="-122"/>
                <a:cs typeface="Inter ExtraBold" pitchFamily="34" charset="-120"/>
              </a:rPr>
              <a:t>THE WRITING IS HOW THEY FIND US</a:t>
            </a:r>
            <a:endParaRPr lang="en-US" sz="3200" dirty="0"/>
          </a:p>
        </p:txBody>
      </p:sp>
      <p:sp>
        <p:nvSpPr>
          <p:cNvPr id="3" name="Text 1"/>
          <p:cNvSpPr txBox="1"/>
          <p:nvPr/>
        </p:nvSpPr>
        <p:spPr>
          <a:xfrm>
            <a:off x="777240" y="1609344"/>
            <a:ext cx="9360749" cy="822960"/>
          </a:xfrm>
          <a:prstGeom prst="rect">
            <a:avLst/>
          </a:prstGeom>
          <a:noFill/>
          <a:ln/>
        </p:spPr>
        <p:txBody>
          <a:bodyPr wrap="square" lIns="0" tIns="0" rIns="0" bIns="0" rtlCol="0" anchor="t"/>
          <a:lstStyle/>
          <a:p>
            <a:pPr indent="0" marL="0">
              <a:lnSpc>
                <a:spcPct val="126000"/>
              </a:lnSpc>
              <a:buNone/>
            </a:pPr>
            <a:r>
              <a:rPr lang="en-US" sz="1800" dirty="0">
                <a:solidFill>
                  <a:srgbClr val="0B1B34"/>
                </a:solidFill>
                <a:latin typeface="Inter SemiBold" pitchFamily="34" charset="0"/>
                <a:ea typeface="Inter SemiBold" pitchFamily="34" charset="-122"/>
                <a:cs typeface="Inter SemiBold" pitchFamily="34" charset="-120"/>
              </a:rPr>
              <a:t>Twenty published articles and eight gated toolkits, each written to answer a question an organisation is already searching for. Headlines are written as the question, not the topic.</a:t>
            </a:r>
            <a:endParaRPr lang="en-US" sz="1800" dirty="0"/>
          </a:p>
        </p:txBody>
      </p:sp>
      <p:sp>
        <p:nvSpPr>
          <p:cNvPr id="4" name="Text 2"/>
          <p:cNvSpPr txBox="1"/>
          <p:nvPr/>
        </p:nvSpPr>
        <p:spPr>
          <a:xfrm>
            <a:off x="777240" y="3200400"/>
            <a:ext cx="2103120" cy="822960"/>
          </a:xfrm>
          <a:prstGeom prst="rect">
            <a:avLst/>
          </a:prstGeom>
          <a:noFill/>
          <a:ln/>
        </p:spPr>
        <p:txBody>
          <a:bodyPr wrap="square" lIns="0" tIns="0" rIns="0" bIns="0" rtlCol="0" anchor="ctr"/>
          <a:lstStyle/>
          <a:p>
            <a:pPr indent="0" marL="0">
              <a:buNone/>
            </a:pPr>
            <a:r>
              <a:rPr lang="en-US" sz="4600" spc="-100" kern="0" dirty="0">
                <a:solidFill>
                  <a:srgbClr val="0B1B34"/>
                </a:solidFill>
                <a:latin typeface="Inter ExtraBold" pitchFamily="34" charset="0"/>
                <a:ea typeface="Inter ExtraBold" pitchFamily="34" charset="-122"/>
                <a:cs typeface="Inter ExtraBold" pitchFamily="34" charset="-120"/>
              </a:rPr>
              <a:t>20</a:t>
            </a:r>
            <a:endParaRPr lang="en-US" sz="4600" dirty="0"/>
          </a:p>
        </p:txBody>
      </p:sp>
      <p:sp>
        <p:nvSpPr>
          <p:cNvPr id="5" name="Text 3"/>
          <p:cNvSpPr txBox="1"/>
          <p:nvPr/>
        </p:nvSpPr>
        <p:spPr>
          <a:xfrm>
            <a:off x="777240" y="4041648"/>
            <a:ext cx="2103120" cy="365760"/>
          </a:xfrm>
          <a:prstGeom prst="rect">
            <a:avLst/>
          </a:prstGeom>
          <a:noFill/>
          <a:ln/>
        </p:spPr>
        <p:txBody>
          <a:bodyPr wrap="square" lIns="0" tIns="0" rIns="0" bIns="0" rtlCol="0" anchor="ctr"/>
          <a:lstStyle/>
          <a:p>
            <a:pPr indent="0" marL="0">
              <a:buNone/>
            </a:pPr>
            <a:r>
              <a:rPr lang="en-US" sz="1500" dirty="0">
                <a:solidFill>
                  <a:srgbClr val="686F7C"/>
                </a:solidFill>
                <a:latin typeface="Inter" pitchFamily="34" charset="0"/>
                <a:ea typeface="Inter" pitchFamily="34" charset="-122"/>
                <a:cs typeface="Inter" pitchFamily="34" charset="-120"/>
              </a:rPr>
              <a:t>published articles</a:t>
            </a:r>
            <a:endParaRPr lang="en-US" sz="1500" dirty="0"/>
          </a:p>
        </p:txBody>
      </p:sp>
      <p:sp>
        <p:nvSpPr>
          <p:cNvPr id="6" name="Text 4"/>
          <p:cNvSpPr txBox="1"/>
          <p:nvPr/>
        </p:nvSpPr>
        <p:spPr>
          <a:xfrm>
            <a:off x="3108960" y="3200400"/>
            <a:ext cx="2103120" cy="822960"/>
          </a:xfrm>
          <a:prstGeom prst="rect">
            <a:avLst/>
          </a:prstGeom>
          <a:noFill/>
          <a:ln/>
        </p:spPr>
        <p:txBody>
          <a:bodyPr wrap="square" lIns="0" tIns="0" rIns="0" bIns="0" rtlCol="0" anchor="ctr"/>
          <a:lstStyle/>
          <a:p>
            <a:pPr indent="0" marL="0">
              <a:buNone/>
            </a:pPr>
            <a:r>
              <a:rPr lang="en-US" sz="4600" spc="-100" kern="0" dirty="0">
                <a:solidFill>
                  <a:srgbClr val="0B1B34"/>
                </a:solidFill>
                <a:latin typeface="Inter ExtraBold" pitchFamily="34" charset="0"/>
                <a:ea typeface="Inter ExtraBold" pitchFamily="34" charset="-122"/>
                <a:cs typeface="Inter ExtraBold" pitchFamily="34" charset="-120"/>
              </a:rPr>
              <a:t>8</a:t>
            </a:r>
            <a:endParaRPr lang="en-US" sz="4600" dirty="0"/>
          </a:p>
        </p:txBody>
      </p:sp>
      <p:sp>
        <p:nvSpPr>
          <p:cNvPr id="7" name="Text 5"/>
          <p:cNvSpPr txBox="1"/>
          <p:nvPr/>
        </p:nvSpPr>
        <p:spPr>
          <a:xfrm>
            <a:off x="3108960" y="4041648"/>
            <a:ext cx="2103120" cy="365760"/>
          </a:xfrm>
          <a:prstGeom prst="rect">
            <a:avLst/>
          </a:prstGeom>
          <a:noFill/>
          <a:ln/>
        </p:spPr>
        <p:txBody>
          <a:bodyPr wrap="square" lIns="0" tIns="0" rIns="0" bIns="0" rtlCol="0" anchor="ctr"/>
          <a:lstStyle/>
          <a:p>
            <a:pPr indent="0" marL="0">
              <a:buNone/>
            </a:pPr>
            <a:r>
              <a:rPr lang="en-US" sz="1500" dirty="0">
                <a:solidFill>
                  <a:srgbClr val="686F7C"/>
                </a:solidFill>
                <a:latin typeface="Inter" pitchFamily="34" charset="0"/>
                <a:ea typeface="Inter" pitchFamily="34" charset="-122"/>
                <a:cs typeface="Inter" pitchFamily="34" charset="-120"/>
              </a:rPr>
              <a:t>gated toolkits</a:t>
            </a:r>
            <a:endParaRPr lang="en-US" sz="1500" dirty="0"/>
          </a:p>
        </p:txBody>
      </p:sp>
      <p:sp>
        <p:nvSpPr>
          <p:cNvPr id="8" name="Text 6"/>
          <p:cNvSpPr txBox="1"/>
          <p:nvPr/>
        </p:nvSpPr>
        <p:spPr>
          <a:xfrm>
            <a:off x="5440680" y="3200400"/>
            <a:ext cx="2103120" cy="822960"/>
          </a:xfrm>
          <a:prstGeom prst="rect">
            <a:avLst/>
          </a:prstGeom>
          <a:noFill/>
          <a:ln/>
        </p:spPr>
        <p:txBody>
          <a:bodyPr wrap="square" lIns="0" tIns="0" rIns="0" bIns="0" rtlCol="0" anchor="ctr"/>
          <a:lstStyle/>
          <a:p>
            <a:pPr indent="0" marL="0">
              <a:buNone/>
            </a:pPr>
            <a:r>
              <a:rPr lang="en-US" sz="4600" spc="-100" kern="0" dirty="0">
                <a:solidFill>
                  <a:srgbClr val="0B1B34"/>
                </a:solidFill>
                <a:latin typeface="Inter ExtraBold" pitchFamily="34" charset="0"/>
                <a:ea typeface="Inter ExtraBold" pitchFamily="34" charset="-122"/>
                <a:cs typeface="Inter ExtraBold" pitchFamily="34" charset="-120"/>
              </a:rPr>
              <a:t>7</a:t>
            </a:r>
            <a:endParaRPr lang="en-US" sz="4600" dirty="0"/>
          </a:p>
        </p:txBody>
      </p:sp>
      <p:sp>
        <p:nvSpPr>
          <p:cNvPr id="9" name="Text 7"/>
          <p:cNvSpPr txBox="1"/>
          <p:nvPr/>
        </p:nvSpPr>
        <p:spPr>
          <a:xfrm>
            <a:off x="5440680" y="4041648"/>
            <a:ext cx="2103120" cy="365760"/>
          </a:xfrm>
          <a:prstGeom prst="rect">
            <a:avLst/>
          </a:prstGeom>
          <a:noFill/>
          <a:ln/>
        </p:spPr>
        <p:txBody>
          <a:bodyPr wrap="square" lIns="0" tIns="0" rIns="0" bIns="0" rtlCol="0" anchor="ctr"/>
          <a:lstStyle/>
          <a:p>
            <a:pPr indent="0" marL="0">
              <a:buNone/>
            </a:pPr>
            <a:r>
              <a:rPr lang="en-US" sz="1500" dirty="0">
                <a:solidFill>
                  <a:srgbClr val="686F7C"/>
                </a:solidFill>
                <a:latin typeface="Inter" pitchFamily="34" charset="0"/>
                <a:ea typeface="Inter" pitchFamily="34" charset="-122"/>
                <a:cs typeface="Inter" pitchFamily="34" charset="-120"/>
              </a:rPr>
              <a:t>subject categories</a:t>
            </a:r>
            <a:endParaRPr lang="en-US" sz="1500" dirty="0"/>
          </a:p>
        </p:txBody>
      </p:sp>
      <p:sp>
        <p:nvSpPr>
          <p:cNvPr id="10" name="Shape 8"/>
          <p:cNvSpPr/>
          <p:nvPr/>
        </p:nvSpPr>
        <p:spPr>
          <a:xfrm>
            <a:off x="8092440" y="3063240"/>
            <a:ext cx="3322015" cy="1920240"/>
          </a:xfrm>
          <a:prstGeom prst="rect">
            <a:avLst/>
          </a:prstGeom>
          <a:solidFill>
            <a:srgbClr val="E6E2DB"/>
          </a:solidFill>
          <a:ln/>
        </p:spPr>
      </p:sp>
      <p:sp>
        <p:nvSpPr>
          <p:cNvPr id="11" name="Text 9"/>
          <p:cNvSpPr txBox="1"/>
          <p:nvPr/>
        </p:nvSpPr>
        <p:spPr>
          <a:xfrm>
            <a:off x="8366760" y="3319272"/>
            <a:ext cx="2773375" cy="475488"/>
          </a:xfrm>
          <a:prstGeom prst="rect">
            <a:avLst/>
          </a:prstGeom>
          <a:noFill/>
          <a:ln/>
        </p:spPr>
        <p:txBody>
          <a:bodyPr wrap="square" lIns="0" tIns="0" rIns="0" bIns="0" rtlCol="0" anchor="t"/>
          <a:lstStyle/>
          <a:p>
            <a:pPr indent="0" marL="0">
              <a:buNone/>
            </a:pPr>
            <a:r>
              <a:rPr lang="en-US" sz="1500" spc="100" kern="0" dirty="0">
                <a:solidFill>
                  <a:srgbClr val="7A1F2B"/>
                </a:solidFill>
                <a:latin typeface="Inter Bold" pitchFamily="34" charset="0"/>
                <a:ea typeface="Inter Bold" pitchFamily="34" charset="-122"/>
                <a:cs typeface="Inter Bold" pitchFamily="34" charset="-120"/>
              </a:rPr>
              <a:t>WHAT IT IS FOR</a:t>
            </a:r>
            <a:endParaRPr lang="en-US" sz="1500" dirty="0"/>
          </a:p>
        </p:txBody>
      </p:sp>
      <p:sp>
        <p:nvSpPr>
          <p:cNvPr id="12" name="Text 10"/>
          <p:cNvSpPr txBox="1"/>
          <p:nvPr/>
        </p:nvSpPr>
        <p:spPr>
          <a:xfrm>
            <a:off x="8366760" y="3849624"/>
            <a:ext cx="2773375" cy="859536"/>
          </a:xfrm>
          <a:prstGeom prst="rect">
            <a:avLst/>
          </a:prstGeom>
          <a:noFill/>
          <a:ln/>
        </p:spPr>
        <p:txBody>
          <a:bodyPr wrap="square" lIns="0" tIns="0" rIns="0" bIns="0" rtlCol="0" anchor="t"/>
          <a:lstStyle/>
          <a:p>
            <a:pPr indent="0" marL="0">
              <a:lnSpc>
                <a:spcPct val="122000"/>
              </a:lnSpc>
              <a:buNone/>
            </a:pPr>
            <a:r>
              <a:rPr lang="en-US" sz="1500" dirty="0">
                <a:solidFill>
                  <a:srgbClr val="0B1B34"/>
                </a:solidFill>
                <a:latin typeface="Inter" pitchFamily="34" charset="0"/>
                <a:ea typeface="Inter" pitchFamily="34" charset="-122"/>
                <a:cs typeface="Inter" pitchFamily="34" charset="-120"/>
              </a:rPr>
              <a:t>The toolkits capture the email. The articles earn the trust. Neither is the product.</a:t>
            </a:r>
            <a:endParaRPr lang="en-US" sz="1500" dirty="0"/>
          </a:p>
        </p:txBody>
      </p:sp>
      <p:sp>
        <p:nvSpPr>
          <p:cNvPr id="13" name="Text 11"/>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686F7C"/>
                </a:solidFill>
                <a:latin typeface="Inter" pitchFamily="34" charset="0"/>
                <a:ea typeface="Inter" pitchFamily="34" charset="-122"/>
                <a:cs typeface="Inter" pitchFamily="34" charset="-120"/>
              </a:rPr>
              <a:t>08</a:t>
            </a:r>
            <a:endParaRPr lang="en-US" sz="1500" dirty="0"/>
          </a:p>
        </p:txBody>
      </p:sp>
      <p:sp>
        <p:nvSpPr>
          <p:cNvPr id="14" name="Text 12"/>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686F7C"/>
                </a:solidFill>
                <a:latin typeface="Inter" pitchFamily="34" charset="0"/>
                <a:ea typeface="Inter" pitchFamily="34" charset="-122"/>
                <a:cs typeface="Inter" pitchFamily="34" charset="-120"/>
              </a:rPr>
              <a:t>sarahaliphilanthropy.com/blog and /resources, counted October 2026</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77240" y="566928"/>
            <a:ext cx="10637215" cy="914400"/>
          </a:xfrm>
          <a:prstGeom prst="rect">
            <a:avLst/>
          </a:prstGeom>
          <a:noFill/>
          <a:ln/>
        </p:spPr>
        <p:txBody>
          <a:bodyPr wrap="square" lIns="0" tIns="0" rIns="0" bIns="0" rtlCol="0" anchor="t"/>
          <a:lstStyle/>
          <a:p>
            <a:pPr indent="0" marL="0">
              <a:buNone/>
            </a:pPr>
            <a:r>
              <a:rPr lang="en-US" sz="3200" spc="-20" kern="0" dirty="0">
                <a:solidFill>
                  <a:srgbClr val="0B1B34"/>
                </a:solidFill>
                <a:latin typeface="Inter ExtraBold" pitchFamily="34" charset="0"/>
                <a:ea typeface="Inter ExtraBold" pitchFamily="34" charset="-122"/>
                <a:cs typeface="Inter ExtraBold" pitchFamily="34" charset="-120"/>
              </a:rPr>
              <a:t>APPENDIX: THE REST OF THE RECORD</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627632"/>
          <a:ext cx="10637215" cy="914400"/>
        </p:xfrm>
        <a:graphic>
          <a:graphicData uri="http://schemas.openxmlformats.org/drawingml/2006/table">
            <a:tbl>
              <a:tblPr/>
              <a:tblGrid>
                <a:gridCol w="6583680"/>
                <a:gridCol w="4050792"/>
              </a:tblGrid>
              <a:tr h="0">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MANDATE</a:t>
                      </a:r>
                      <a:endParaRPr lang="en-US" sz="1500" dirty="0">
                        <a:latin typeface="Inter Bold" charset="0"/>
                        <a:ea typeface="Inter Bold" charset="0"/>
                        <a:cs typeface="Inter 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0B1B34"/>
                    </a:solidFill>
                  </a:tcPr>
                </a:tc>
                <a:tc>
                  <a:txBody>
                    <a:bodyPr/>
                    <a:lstStyle/>
                    <a:p>
                      <a:pPr indent="0" marL="0">
                        <a:buNone/>
                      </a:pPr>
                      <a:r>
                        <a:rPr lang="en-US" sz="1500" spc="100" kern="0" dirty="0">
                          <a:solidFill>
                            <a:srgbClr val="F4EFE7"/>
                          </a:solidFill>
                          <a:latin typeface="Inter Bold" pitchFamily="34" charset="0"/>
                          <a:ea typeface="Inter Bold" pitchFamily="34" charset="-122"/>
                          <a:cs typeface="Inter Bold" pitchFamily="34" charset="-120"/>
                        </a:rPr>
                        <a:t>RESULT</a:t>
                      </a:r>
                      <a:endParaRPr lang="en-US" sz="1500" dirty="0">
                        <a:latin typeface="Inter Bold" charset="0"/>
                        <a:ea typeface="Inter Bold" charset="0"/>
                        <a:cs typeface="Inter 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0B1B34"/>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Dhul Hijjah search campaign and SEO rebuild</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5.39x ROAS, 137 keywords ranking</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Symbolic gift catalogue, holiday season</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27x ROAS, $534K raised</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Year end cross platform appeal</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$272K across 1,297 gifts</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Year end efficiency campaign</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30x ROAS, $270K revenue</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Year end appeal, smaller audience</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4x ROAS</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Evergreen acquisition programme</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6.2x ROAS across the year</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Thanksgiving SMS and email integration</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4x email revenue lift</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Lead generation, faith content</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10,668 leads, 5% lead to donor</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Lead generation, practical guide</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2,615 monthly leads</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E6E2DB"/>
                    </a:solidFill>
                  </a:tcPr>
                </a:tc>
              </a:tr>
              <a:tr h="0">
                <a:tc>
                  <a:txBody>
                    <a:bodyPr/>
                    <a:lstStyle/>
                    <a:p>
                      <a:pPr indent="0" marL="0">
                        <a:buNone/>
                      </a:pPr>
                      <a:r>
                        <a:rPr lang="en-US" sz="1500" dirty="0">
                          <a:solidFill>
                            <a:srgbClr val="0B1B34"/>
                          </a:solidFill>
                          <a:latin typeface="Inter" pitchFamily="34" charset="0"/>
                          <a:ea typeface="Inter" pitchFamily="34" charset="-122"/>
                          <a:cs typeface="Inter" pitchFamily="34" charset="-120"/>
                        </a:rPr>
                        <a:t>Quiz and eBook funnel test</a:t>
                      </a:r>
                      <a:endParaRPr lang="en-US" sz="1500" dirty="0">
                        <a:latin typeface="Inter" charset="0"/>
                        <a:ea typeface="Inter" charset="0"/>
                        <a:cs typeface="Inter"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c>
                  <a:txBody>
                    <a:bodyPr/>
                    <a:lstStyle/>
                    <a:p>
                      <a:pPr indent="0" marL="0">
                        <a:buNone/>
                      </a:pPr>
                      <a:r>
                        <a:rPr lang="en-US" sz="1500" dirty="0">
                          <a:solidFill>
                            <a:srgbClr val="0B1B34"/>
                          </a:solidFill>
                          <a:latin typeface="Inter SemiBold" pitchFamily="34" charset="0"/>
                          <a:ea typeface="Inter SemiBold" pitchFamily="34" charset="-122"/>
                          <a:cs typeface="Inter SemiBold" pitchFamily="34" charset="-120"/>
                        </a:rPr>
                        <a:t>184% lead to donor lift</a:t>
                      </a:r>
                      <a:endParaRPr lang="en-US" sz="1500" dirty="0">
                        <a:latin typeface="Inter SemiBold" charset="0"/>
                        <a:ea typeface="Inter SemiBold" charset="0"/>
                        <a:cs typeface="Inter SemiBold" charset="0"/>
                      </a:endParaRPr>
                    </a:p>
                  </a:txBody>
                  <a:tcPr marL="177800" marR="177800" marT="63500" marB="63500">
                    <a:lnL w="0" cap="flat" cmpd="sng" algn="ctr">
                      <a:noFill/>
                    </a:lnL>
                    <a:lnR w="0" cap="flat" cmpd="sng" algn="ctr">
                      <a:noFill/>
                    </a:lnR>
                    <a:lnT w="0" cap="flat" cmpd="sng" algn="ctr">
                      <a:noFill/>
                    </a:lnT>
                    <a:lnB w="0" cap="flat" cmpd="sng" algn="ctr">
                      <a:noFill/>
                    </a:lnB>
                    <a:solidFill>
                      <a:srgbClr val="F4EFE7"/>
                    </a:solidFill>
                  </a:tcPr>
                </a:tc>
              </a:tr>
            </a:tbl>
          </a:graphicData>
        </a:graphic>
      </p:graphicFrame>
      <p:sp>
        <p:nvSpPr>
          <p:cNvPr id="4" name="Text 1"/>
          <p:cNvSpPr txBox="1"/>
          <p:nvPr/>
        </p:nvSpPr>
        <p:spPr>
          <a:xfrm>
            <a:off x="10682935" y="6254496"/>
            <a:ext cx="731520" cy="274320"/>
          </a:xfrm>
          <a:prstGeom prst="rect">
            <a:avLst/>
          </a:prstGeom>
          <a:noFill/>
          <a:ln/>
        </p:spPr>
        <p:txBody>
          <a:bodyPr wrap="square" lIns="0" tIns="0" rIns="0" bIns="0" rtlCol="0" anchor="ctr"/>
          <a:lstStyle/>
          <a:p>
            <a:pPr algn="r" indent="0" marL="0">
              <a:buNone/>
            </a:pPr>
            <a:r>
              <a:rPr lang="en-US" sz="1500" dirty="0">
                <a:solidFill>
                  <a:srgbClr val="686F7C"/>
                </a:solidFill>
                <a:latin typeface="Inter" pitchFamily="34" charset="0"/>
                <a:ea typeface="Inter" pitchFamily="34" charset="-122"/>
                <a:cs typeface="Inter" pitchFamily="34" charset="-120"/>
              </a:rPr>
              <a:t>09</a:t>
            </a:r>
            <a:endParaRPr lang="en-US" sz="1500" dirty="0"/>
          </a:p>
        </p:txBody>
      </p:sp>
      <p:sp>
        <p:nvSpPr>
          <p:cNvPr id="5" name="Text 2"/>
          <p:cNvSpPr txBox="1"/>
          <p:nvPr/>
        </p:nvSpPr>
        <p:spPr>
          <a:xfrm>
            <a:off x="777240" y="6254496"/>
            <a:ext cx="9631375" cy="274320"/>
          </a:xfrm>
          <a:prstGeom prst="rect">
            <a:avLst/>
          </a:prstGeom>
          <a:noFill/>
          <a:ln/>
        </p:spPr>
        <p:txBody>
          <a:bodyPr wrap="square" lIns="0" tIns="0" rIns="0" bIns="0" rtlCol="0" anchor="t"/>
          <a:lstStyle/>
          <a:p>
            <a:pPr indent="0" marL="0">
              <a:buNone/>
            </a:pPr>
            <a:r>
              <a:rPr lang="en-US" sz="1500" i="1" dirty="0">
                <a:solidFill>
                  <a:srgbClr val="686F7C"/>
                </a:solidFill>
                <a:latin typeface="Inter" pitchFamily="34" charset="0"/>
                <a:ea typeface="Inter" pitchFamily="34" charset="-122"/>
                <a:cs typeface="Inter" pitchFamily="34" charset="-120"/>
              </a:rPr>
              <a:t>Published case studies. Cost per lead figures require Sarah sign off.</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77240" y="2286000"/>
            <a:ext cx="10637215" cy="1005840"/>
          </a:xfrm>
          <a:prstGeom prst="rect">
            <a:avLst/>
          </a:prstGeom>
          <a:noFill/>
          <a:ln/>
        </p:spPr>
        <p:txBody>
          <a:bodyPr wrap="square" lIns="0" tIns="0" rIns="0" bIns="0" rtlCol="0" anchor="ctr"/>
          <a:lstStyle/>
          <a:p>
            <a:pPr indent="0" marL="0">
              <a:buNone/>
            </a:pPr>
            <a:r>
              <a:rPr lang="en-US" sz="5600" spc="-120" kern="0" dirty="0">
                <a:solidFill>
                  <a:srgbClr val="F4EFE7"/>
                </a:solidFill>
                <a:latin typeface="Inter ExtraBold" pitchFamily="34" charset="0"/>
                <a:ea typeface="Inter ExtraBold" pitchFamily="34" charset="-122"/>
                <a:cs typeface="Inter ExtraBold" pitchFamily="34" charset="-120"/>
              </a:rPr>
              <a:t>Thank You</a:t>
            </a:r>
            <a:endParaRPr lang="en-US" sz="5600" dirty="0"/>
          </a:p>
        </p:txBody>
      </p:sp>
      <p:sp>
        <p:nvSpPr>
          <p:cNvPr id="3" name="Shape 1"/>
          <p:cNvSpPr/>
          <p:nvPr/>
        </p:nvSpPr>
        <p:spPr>
          <a:xfrm>
            <a:off x="777240" y="3456432"/>
            <a:ext cx="1051560" cy="50292"/>
          </a:xfrm>
          <a:prstGeom prst="rect">
            <a:avLst/>
          </a:prstGeom>
          <a:solidFill>
            <a:srgbClr val="7A1F2B"/>
          </a:solidFill>
          <a:ln/>
        </p:spPr>
      </p:sp>
      <p:sp>
        <p:nvSpPr>
          <p:cNvPr id="4" name="Text 2"/>
          <p:cNvSpPr txBox="1"/>
          <p:nvPr/>
        </p:nvSpPr>
        <p:spPr>
          <a:xfrm>
            <a:off x="777240" y="3767328"/>
            <a:ext cx="6382329" cy="411480"/>
          </a:xfrm>
          <a:prstGeom prst="rect">
            <a:avLst/>
          </a:prstGeom>
          <a:noFill/>
          <a:ln/>
        </p:spPr>
        <p:txBody>
          <a:bodyPr wrap="square" lIns="0" tIns="0" rIns="0" bIns="0" rtlCol="0" anchor="ctr"/>
          <a:lstStyle/>
          <a:p>
            <a:pPr indent="0" marL="0">
              <a:buNone/>
            </a:pPr>
            <a:r>
              <a:rPr lang="en-US" sz="2000" dirty="0">
                <a:solidFill>
                  <a:srgbClr val="F4EFE7"/>
                </a:solidFill>
                <a:latin typeface="Inter SemiBold" pitchFamily="34" charset="0"/>
                <a:ea typeface="Inter SemiBold" pitchFamily="34" charset="-122"/>
                <a:cs typeface="Inter SemiBold" pitchFamily="34" charset="-120"/>
              </a:rPr>
              <a:t>Capability Reference</a:t>
            </a:r>
            <a:endParaRPr lang="en-US" sz="2000" dirty="0"/>
          </a:p>
        </p:txBody>
      </p:sp>
      <p:sp>
        <p:nvSpPr>
          <p:cNvPr id="5" name="Text 3"/>
          <p:cNvSpPr txBox="1"/>
          <p:nvPr/>
        </p:nvSpPr>
        <p:spPr>
          <a:xfrm>
            <a:off x="777240" y="4279392"/>
            <a:ext cx="6382329" cy="411480"/>
          </a:xfrm>
          <a:prstGeom prst="rect">
            <a:avLst/>
          </a:prstGeom>
          <a:noFill/>
          <a:ln/>
        </p:spPr>
        <p:txBody>
          <a:bodyPr wrap="square" lIns="0" tIns="0" rIns="0" bIns="0" rtlCol="0" anchor="ctr"/>
          <a:lstStyle/>
          <a:p>
            <a:pPr indent="0" marL="0">
              <a:buNone/>
            </a:pPr>
            <a:r>
              <a:rPr lang="en-US" sz="1700" dirty="0">
                <a:solidFill>
                  <a:srgbClr val="9AA3AE"/>
                </a:solidFill>
                <a:latin typeface="Inter" pitchFamily="34" charset="0"/>
                <a:ea typeface="Inter" pitchFamily="34" charset="-122"/>
                <a:cs typeface="Inter" pitchFamily="34" charset="-120"/>
              </a:rPr>
              <a:t>Presented by Sarah Ali Philanthropy Inc.</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SA Philanthropy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 Philanthropy Capability Reference</dc:title>
  <dc:subject>PptxGenJS Presentation</dc:subject>
  <dc:creator>SA Philanthropy</dc:creator>
  <cp:lastModifiedBy>SA Philanthropy</cp:lastModifiedBy>
  <cp:revision>1</cp:revision>
  <dcterms:created xsi:type="dcterms:W3CDTF">2026-10-03T06:31:49Z</dcterms:created>
  <dcterms:modified xsi:type="dcterms:W3CDTF">2026-10-03T06:31:49Z</dcterms:modified>
</cp:coreProperties>
</file>